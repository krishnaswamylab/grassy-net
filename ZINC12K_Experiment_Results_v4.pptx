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0FC2-ECAC-0085-80CA-73AA3DF8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28A7-3BA4-9645-9C6F-C7939CF5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30410-4979-9BDC-9362-51CA28CA6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300" y="1515609"/>
            <a:ext cx="3581400" cy="4525963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Dataset: ZINC12K</a:t>
            </a:r>
          </a:p>
          <a:p>
            <a:r>
              <a:rPr dirty="0"/>
              <a:t>Node Features: 16</a:t>
            </a:r>
          </a:p>
          <a:p>
            <a:pPr lvl="1"/>
            <a:r>
              <a:rPr dirty="0"/>
              <a:t>Atom Types (8):</a:t>
            </a:r>
          </a:p>
          <a:p>
            <a:pPr lvl="2"/>
            <a:r>
              <a:rPr dirty="0"/>
              <a:t>C (Carbon)</a:t>
            </a:r>
          </a:p>
          <a:p>
            <a:pPr lvl="2"/>
            <a:r>
              <a:rPr dirty="0"/>
              <a:t>O (Oxygen)</a:t>
            </a:r>
          </a:p>
          <a:p>
            <a:pPr lvl="2"/>
            <a:r>
              <a:rPr dirty="0"/>
              <a:t>N (Nitrogen)</a:t>
            </a:r>
          </a:p>
          <a:p>
            <a:pPr lvl="2"/>
            <a:r>
              <a:rPr dirty="0"/>
              <a:t>S (Sulfur)</a:t>
            </a:r>
          </a:p>
          <a:p>
            <a:pPr lvl="2"/>
            <a:r>
              <a:rPr dirty="0"/>
              <a:t>F (Fluorine)</a:t>
            </a:r>
          </a:p>
          <a:p>
            <a:pPr lvl="2"/>
            <a:r>
              <a:rPr dirty="0"/>
              <a:t>Cl (Chlorine)</a:t>
            </a:r>
          </a:p>
          <a:p>
            <a:pPr lvl="2"/>
            <a:r>
              <a:rPr dirty="0"/>
              <a:t>Br (Bromine)</a:t>
            </a:r>
          </a:p>
          <a:p>
            <a:pPr lvl="2"/>
            <a:r>
              <a:rPr dirty="0"/>
              <a:t>I (Iodine)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113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Input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4214" y="1559151"/>
            <a:ext cx="3755572" cy="4525963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Dataset: ZINC12K</a:t>
            </a:r>
          </a:p>
          <a:p>
            <a:r>
              <a:rPr dirty="0"/>
              <a:t>Node Features: 16</a:t>
            </a:r>
          </a:p>
          <a:p>
            <a:pPr lvl="1"/>
            <a:r>
              <a:rPr lang="pt-BR" dirty="0"/>
              <a:t>Pair Encodings (8):</a:t>
            </a:r>
          </a:p>
          <a:p>
            <a:pPr lvl="2"/>
            <a:r>
              <a:rPr lang="pt-BR" dirty="0"/>
              <a:t>C-O</a:t>
            </a:r>
          </a:p>
          <a:p>
            <a:pPr lvl="2"/>
            <a:r>
              <a:rPr lang="pt-BR" dirty="0"/>
              <a:t>C-N</a:t>
            </a:r>
          </a:p>
          <a:p>
            <a:pPr lvl="2"/>
            <a:r>
              <a:rPr lang="pt-BR" dirty="0"/>
              <a:t>C-S</a:t>
            </a:r>
          </a:p>
          <a:p>
            <a:pPr lvl="2"/>
            <a:r>
              <a:rPr lang="pt-BR" dirty="0"/>
              <a:t>N-O</a:t>
            </a:r>
          </a:p>
          <a:p>
            <a:pPr lvl="2"/>
            <a:r>
              <a:rPr lang="pt-BR" dirty="0"/>
              <a:t>O-S</a:t>
            </a:r>
          </a:p>
          <a:p>
            <a:pPr lvl="2"/>
            <a:r>
              <a:rPr lang="pt-BR" dirty="0"/>
              <a:t>N-S</a:t>
            </a:r>
          </a:p>
          <a:p>
            <a:pPr lvl="2"/>
            <a:r>
              <a:rPr lang="pt-BR" dirty="0"/>
              <a:t>C-F</a:t>
            </a:r>
          </a:p>
          <a:p>
            <a:pPr lvl="2"/>
            <a:r>
              <a:rPr lang="pt-BR" dirty="0"/>
              <a:t>C-Cl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Predicted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2485" y="2258785"/>
            <a:ext cx="30044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/>
              <a:t>• </a:t>
            </a:r>
            <a:r>
              <a:rPr sz="2400" dirty="0" err="1"/>
              <a:t>qed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HeavyAtomMolWt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MolWt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BalabanJ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BertzCT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Ipc</a:t>
            </a:r>
            <a:endParaRPr sz="2400" dirty="0"/>
          </a:p>
          <a:p>
            <a:r>
              <a:rPr sz="2400" dirty="0"/>
              <a:t>• TPSA</a:t>
            </a:r>
          </a:p>
          <a:p>
            <a:endParaRPr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704113" y="2413336"/>
            <a:ext cx="24601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/>
              <a:t>• </a:t>
            </a:r>
            <a:r>
              <a:rPr sz="2400" dirty="0" err="1"/>
              <a:t>NumHAcceptors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NumHDonors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/>
              <a:t>RingCount</a:t>
            </a:r>
            <a:endParaRPr sz="2400" dirty="0"/>
          </a:p>
          <a:p>
            <a:r>
              <a:rPr sz="2400" dirty="0"/>
              <a:t>• </a:t>
            </a:r>
            <a:r>
              <a:rPr sz="2400" dirty="0" err="1">
                <a:highlight>
                  <a:srgbClr val="FFFF00"/>
                </a:highlight>
              </a:rPr>
              <a:t>MolLogP</a:t>
            </a:r>
            <a:endParaRPr sz="2400" dirty="0">
              <a:highlight>
                <a:srgbClr val="FFFF00"/>
              </a:highlight>
            </a:endParaRPr>
          </a:p>
          <a:p>
            <a:r>
              <a:rPr sz="2400" dirty="0">
                <a:highlight>
                  <a:srgbClr val="FFFF00"/>
                </a:highlight>
              </a:rPr>
              <a:t>• </a:t>
            </a:r>
            <a:r>
              <a:rPr sz="2400" dirty="0" err="1">
                <a:highlight>
                  <a:srgbClr val="FFFF00"/>
                </a:highlight>
              </a:rPr>
              <a:t>SAscore</a:t>
            </a:r>
            <a:endParaRPr sz="2400" dirty="0">
              <a:highlight>
                <a:srgbClr val="FFFF00"/>
              </a:highlight>
            </a:endParaRPr>
          </a:p>
          <a:p>
            <a:r>
              <a:rPr sz="2400" dirty="0">
                <a:highlight>
                  <a:srgbClr val="FFFF00"/>
                </a:highlight>
              </a:rPr>
              <a:t>• FSP3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0.01 | PCA of qed</a:t>
            </a:r>
          </a:p>
        </p:txBody>
      </p:sp>
      <p:pic>
        <p:nvPicPr>
          <p:cNvPr id="3" name="Picture 2" descr="temp_img_e1e2ef52e1624fc99cf2537442a182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6013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qed MAE: 0.7494</a:t>
            </a:r>
          </a:p>
          <a:p>
            <a:pPr algn="ctr">
              <a:defRPr sz="1400"/>
            </a:pPr>
            <a:r>
              <a:t>Overall Model MAE: 0.6900  •  Overall Model STD: ±0.6503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Alpha: 0.01 | PCA of HeavyAtomMolWt</a:t>
            </a:r>
          </a:p>
        </p:txBody>
      </p:sp>
      <p:pic>
        <p:nvPicPr>
          <p:cNvPr id="3" name="Picture 2" descr="temp_img_a0220378c8f04a31ad4cedb7d6ea1c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6013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HeavyAtomMolWt MAE: 0.7450</a:t>
            </a:r>
          </a:p>
          <a:p>
            <a:pPr algn="ctr">
              <a:defRPr sz="1400"/>
            </a:pPr>
            <a:r>
              <a:t>Overall Model MAE: 0.6900  •  Overall Model STD: ±0.6503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0.01 | PCA of MolWt</a:t>
            </a:r>
          </a:p>
        </p:txBody>
      </p:sp>
      <p:pic>
        <p:nvPicPr>
          <p:cNvPr id="3" name="Picture 2" descr="temp_img_823fe569c1e34cd182f9048fc80ab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6013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MolWt MAE: 0.7526</a:t>
            </a:r>
          </a:p>
          <a:p>
            <a:pPr algn="ctr">
              <a:defRPr sz="1400"/>
            </a:pPr>
            <a:r>
              <a:t>Overall Model MAE: 0.6900  •  Overall Model STD: ±0.6503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0.01 | PCA of BalabanJ</a:t>
            </a:r>
          </a:p>
        </p:txBody>
      </p:sp>
      <p:pic>
        <p:nvPicPr>
          <p:cNvPr id="3" name="Picture 2" descr="temp_img_6d44510342054b2692018878efa74d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6013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BalabanJ MAE: 0.7449</a:t>
            </a:r>
          </a:p>
          <a:p>
            <a:pPr algn="ctr">
              <a:defRPr sz="1400"/>
            </a:pPr>
            <a:r>
              <a:t>Overall Model MAE: 0.6900  •  Overall Model STD: ±0.6503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0.01 | PHATE of qed</a:t>
            </a:r>
          </a:p>
        </p:txBody>
      </p:sp>
      <p:pic>
        <p:nvPicPr>
          <p:cNvPr id="3" name="Picture 2" descr="temp_img_ae7f5d721da0462a9cc7dd78920aab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788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qed MAE: 0.7494</a:t>
            </a:r>
          </a:p>
          <a:p>
            <a:pPr algn="ctr">
              <a:defRPr sz="1400"/>
            </a:pPr>
            <a:r>
              <a:t>Overall Model MAE: 0.6900  •  Overall Model STD: ±0.6503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Alpha: 0.01 | PHATE of HeavyAtomMolWt</a:t>
            </a:r>
          </a:p>
        </p:txBody>
      </p:sp>
      <p:pic>
        <p:nvPicPr>
          <p:cNvPr id="3" name="Picture 2" descr="temp_img_ad5e5a23ae3b4275b8f4540649f14b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788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HeavyAtomMolWt MAE: 0.7450</a:t>
            </a:r>
          </a:p>
          <a:p>
            <a:pPr algn="ctr">
              <a:defRPr sz="1400"/>
            </a:pPr>
            <a:r>
              <a:t>Overall Model MAE: 0.6900  •  Overall Model STD: ±0.6503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0.01 | PHATE of MolWt</a:t>
            </a:r>
          </a:p>
        </p:txBody>
      </p:sp>
      <p:pic>
        <p:nvPicPr>
          <p:cNvPr id="3" name="Picture 2" descr="temp_img_c5801e493ae44c759abf0cbe1d0d4c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788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MolWt MAE: 0.7526</a:t>
            </a:r>
          </a:p>
          <a:p>
            <a:pPr algn="ctr">
              <a:defRPr sz="1400"/>
            </a:pPr>
            <a:r>
              <a:t>Overall Model MAE: 0.6900  •  Overall Model STD: ±0.6503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0.01 | PHATE of BalabanJ</a:t>
            </a:r>
          </a:p>
        </p:txBody>
      </p:sp>
      <p:pic>
        <p:nvPicPr>
          <p:cNvPr id="3" name="Picture 2" descr="temp_img_24e22f5f5aaa4244989635567f4544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788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BalabanJ MAE: 0.7449</a:t>
            </a:r>
          </a:p>
          <a:p>
            <a:pPr algn="ctr">
              <a:defRPr sz="1400"/>
            </a:pPr>
            <a:r>
              <a:t>Overall Model MAE: 0.6900  •  Overall Model STD: ±0.6503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0.3 | PCA of qed</a:t>
            </a:r>
          </a:p>
        </p:txBody>
      </p:sp>
      <p:pic>
        <p:nvPicPr>
          <p:cNvPr id="3" name="Picture 2" descr="temp_img_fc785bdf3f4548178dc54c6a1e2401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6013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qed MAE: 0.7953</a:t>
            </a:r>
          </a:p>
          <a:p>
            <a:pPr algn="ctr">
              <a:defRPr sz="1400"/>
            </a:pPr>
            <a:r>
              <a:t>Overall Model MAE: 0.7082  •  Overall Model STD: ±0.6826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Alpha: 0.3 | PCA of HeavyAtomMolWt</a:t>
            </a:r>
          </a:p>
        </p:txBody>
      </p:sp>
      <p:pic>
        <p:nvPicPr>
          <p:cNvPr id="3" name="Picture 2" descr="temp_img_f32f26b23ef840ac9303240fc07e5e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6013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HeavyAtomMolWt MAE: 0.7701</a:t>
            </a:r>
          </a:p>
          <a:p>
            <a:pPr algn="ctr">
              <a:defRPr sz="1400"/>
            </a:pPr>
            <a:r>
              <a:t>Overall Model MAE: 0.7082  •  Overall Model STD: ±0.6826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0.3 | PCA of MolWt</a:t>
            </a:r>
          </a:p>
        </p:txBody>
      </p:sp>
      <p:pic>
        <p:nvPicPr>
          <p:cNvPr id="3" name="Picture 2" descr="temp_img_61fd77695ff74073ad0e7047fbc0e7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6013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MolWt MAE: 0.7862</a:t>
            </a:r>
          </a:p>
          <a:p>
            <a:pPr algn="ctr">
              <a:defRPr sz="1400"/>
            </a:pPr>
            <a:r>
              <a:t>Overall Model MAE: 0.7082  •  Overall Model STD: ±0.6826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0.3 | PCA of BalabanJ</a:t>
            </a:r>
          </a:p>
        </p:txBody>
      </p:sp>
      <p:pic>
        <p:nvPicPr>
          <p:cNvPr id="3" name="Picture 2" descr="temp_img_5293fcd2a6de4ffb829889ffc915b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6013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BalabanJ MAE: 0.7785</a:t>
            </a:r>
          </a:p>
          <a:p>
            <a:pPr algn="ctr">
              <a:defRPr sz="1400"/>
            </a:pPr>
            <a:r>
              <a:t>Overall Model MAE: 0.7082  •  Overall Model STD: ±0.6826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0.3 | PHATE of qed</a:t>
            </a:r>
          </a:p>
        </p:txBody>
      </p:sp>
      <p:pic>
        <p:nvPicPr>
          <p:cNvPr id="3" name="Picture 2" descr="temp_img_5833f9a8ff974cb9a239e5c60688ef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788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qed MAE: 0.7953</a:t>
            </a:r>
          </a:p>
          <a:p>
            <a:pPr algn="ctr">
              <a:defRPr sz="1400"/>
            </a:pPr>
            <a:r>
              <a:t>Overall Model MAE: 0.7082  •  Overall Model STD: ±0.6826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Alpha: 0.3 | PHATE of HeavyAtomMolWt</a:t>
            </a:r>
          </a:p>
        </p:txBody>
      </p:sp>
      <p:pic>
        <p:nvPicPr>
          <p:cNvPr id="3" name="Picture 2" descr="temp_img_f9f4e56d8eb643bb8a6f7d8bd08dee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788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HeavyAtomMolWt MAE: 0.7701</a:t>
            </a:r>
          </a:p>
          <a:p>
            <a:pPr algn="ctr">
              <a:defRPr sz="1400"/>
            </a:pPr>
            <a:r>
              <a:t>Overall Model MAE: 0.7082  •  Overall Model STD: ±0.6826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0.3 | PHATE of MolWt</a:t>
            </a:r>
          </a:p>
        </p:txBody>
      </p:sp>
      <p:pic>
        <p:nvPicPr>
          <p:cNvPr id="3" name="Picture 2" descr="temp_img_f3d373aaa42a4d0b9f27d8db22a2bf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788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MolWt MAE: 0.7862</a:t>
            </a:r>
          </a:p>
          <a:p>
            <a:pPr algn="ctr">
              <a:defRPr sz="1400"/>
            </a:pPr>
            <a:r>
              <a:t>Overall Model MAE: 0.7082  •  Overall Model STD: ±0.6826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Alpha: 0.3 | PHATE of BalabanJ</a:t>
            </a:r>
          </a:p>
        </p:txBody>
      </p:sp>
      <p:pic>
        <p:nvPicPr>
          <p:cNvPr id="3" name="Picture 2" descr="temp_img_d48bf887b54e4c5ebb52de54d676f1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788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600"/>
            </a:pPr>
            <a:r>
              <a:t>BalabanJ MAE: 0.7785</a:t>
            </a:r>
          </a:p>
          <a:p>
            <a:pPr algn="ctr">
              <a:defRPr sz="1400"/>
            </a:pPr>
            <a:r>
              <a:t>Overall Model MAE: 0.7082  •  Overall Model STD: ±0.6826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Curves: Alpha 0.01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B8713-8DDD-78AC-640B-986418D6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0401"/>
            <a:ext cx="9144000" cy="33971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Curves: Alpha 0.3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662CC8-274C-BEF1-04AA-28552F97A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9949"/>
            <a:ext cx="9144000" cy="3378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474</Words>
  <Application>Microsoft Office PowerPoint</Application>
  <PresentationFormat>On-screen Show (4:3)</PresentationFormat>
  <Paragraphs>106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Input Representation</vt:lpstr>
      <vt:lpstr>Input Representation</vt:lpstr>
      <vt:lpstr>Predicted Properties</vt:lpstr>
      <vt:lpstr>Alpha: 0.01 | PCA of qed</vt:lpstr>
      <vt:lpstr>Alpha: 0.01 | PCA of HeavyAtomMolWt</vt:lpstr>
      <vt:lpstr>Alpha: 0.01 | PCA of MolWt</vt:lpstr>
      <vt:lpstr>Alpha: 0.01 | PCA of BalabanJ</vt:lpstr>
      <vt:lpstr>Alpha: 0.01 | PHATE of qed</vt:lpstr>
      <vt:lpstr>Alpha: 0.01 | PHATE of HeavyAtomMolWt</vt:lpstr>
      <vt:lpstr>Alpha: 0.01 | PHATE of MolWt</vt:lpstr>
      <vt:lpstr>Alpha: 0.01 | PHATE of BalabanJ</vt:lpstr>
      <vt:lpstr>Alpha: 0.3 | PCA of qed</vt:lpstr>
      <vt:lpstr>Alpha: 0.3 | PCA of HeavyAtomMolWt</vt:lpstr>
      <vt:lpstr>Alpha: 0.3 | PCA of MolWt</vt:lpstr>
      <vt:lpstr>Alpha: 0.3 | PCA of BalabanJ</vt:lpstr>
      <vt:lpstr>Alpha: 0.3 | PHATE of qed</vt:lpstr>
      <vt:lpstr>Alpha: 0.3 | PHATE of HeavyAtomMolWt</vt:lpstr>
      <vt:lpstr>Alpha: 0.3 | PHATE of MolWt</vt:lpstr>
      <vt:lpstr>Alpha: 0.3 | PHATE of BalabanJ</vt:lpstr>
      <vt:lpstr>Training Curves: Alpha 0.01</vt:lpstr>
      <vt:lpstr>Training Curves: Alpha 0.3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shaul tolkowsky</cp:lastModifiedBy>
  <cp:revision>2</cp:revision>
  <dcterms:created xsi:type="dcterms:W3CDTF">2013-01-27T09:14:16Z</dcterms:created>
  <dcterms:modified xsi:type="dcterms:W3CDTF">2026-01-06T15:24:20Z</dcterms:modified>
  <cp:category/>
</cp:coreProperties>
</file>